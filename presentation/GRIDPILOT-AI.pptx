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rimson Pro SemiBold" panose="020B0604020202020204" charset="0"/>
      <p:regular r:id="rId11"/>
    </p:embeddedFont>
    <p:embeddedFont>
      <p:font typeface="Heebo" pitchFamily="2" charset="-79"/>
      <p:regular r:id="rId12"/>
    </p:embeddedFont>
    <p:embeddedFont>
      <p:font typeface="Heebo Bold" panose="020B0604020202020204" charset="-79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04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6569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GRIDPILOT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39814"/>
            <a:ext cx="6296860" cy="245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Autonomous Grid Intelligence &amp; Predictive Renewable Dispatch</a:t>
            </a:r>
            <a:endParaRPr lang="en-US" sz="14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ebo" pitchFamily="34" charset="0"/>
                <a:ea typeface="Heebo" pitchFamily="34" charset="-122"/>
                <a:cs typeface="Heebo" pitchFamily="34" charset="-120"/>
              </a:rPr>
              <a:t>IBM Hackathon 2026 · Track U2 — Grid Load Optimisation &amp; Renewable Energy Performance Advisor</a:t>
            </a:r>
            <a:endParaRPr lang="en-US" sz="14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ebo" pitchFamily="34" charset="0"/>
                <a:ea typeface="Heebo" pitchFamily="34" charset="-122"/>
                <a:cs typeface="Heebo" pitchFamily="34" charset="-120"/>
              </a:rPr>
              <a:t>Team: Relentless Gladiators — Mahavir Virda · Deep Pathak · Savan Patel · Tirth Patel</a:t>
            </a:r>
            <a:endParaRPr lang="en-US" sz="14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eebo" pitchFamily="34" charset="0"/>
                <a:ea typeface="Heebo" pitchFamily="34" charset="-122"/>
                <a:cs typeface="Heebo" pitchFamily="34" charset="-120"/>
              </a:rPr>
              <a:t>"Predict the Grid. Optimize the Dispatch. Explain Every Decision."</a:t>
            </a:r>
            <a:endParaRPr lang="en-US" sz="14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540A1-026B-D525-3D2C-8E2B918AB84B}"/>
              </a:ext>
            </a:extLst>
          </p:cNvPr>
          <p:cNvSpPr/>
          <p:nvPr/>
        </p:nvSpPr>
        <p:spPr>
          <a:xfrm>
            <a:off x="4571886" y="6596743"/>
            <a:ext cx="7620114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6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GRID CHALLENGE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5320"/>
            <a:ext cx="736582" cy="45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2245320"/>
            <a:ext cx="15671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RENEWABLE INTERMITTENCY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3244552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Solar and wind output varies rapidly; static dispatch struggles to follow.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245320"/>
            <a:ext cx="736582" cy="45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2245320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DEMAND SURGES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2949277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 fast charging and industrial loads create sudden multi‑MW spikes.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245320"/>
            <a:ext cx="736582" cy="4552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245320"/>
            <a:ext cx="15672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 ENERGY CURTAILMENT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3244552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Grid congestion forces renewable curtailment and wasted generation.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245320"/>
            <a:ext cx="736582" cy="4552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2245320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OPERATOR OVERLOAD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2949277"/>
            <a:ext cx="15672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Operators interpret telemetry, alarms, and constraints manually under pressure.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497641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approaches (static schedules, heuristics, manual curtailment) fail due to poor prediction, slow decisions, wasted renewables, and higher risk.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329577-F48F-019D-F0C6-CF3628C9C9AC}"/>
              </a:ext>
            </a:extLst>
          </p:cNvPr>
          <p:cNvSpPr/>
          <p:nvPr/>
        </p:nvSpPr>
        <p:spPr>
          <a:xfrm>
            <a:off x="9331" y="6596743"/>
            <a:ext cx="12192000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468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SOLUTION — FOUR NON-NEGOTIABLE RULES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582936"/>
            <a:ext cx="690644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principle: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ML Predicts • OR-Tools Decides • LLM Explains • Human Approves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1900932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03156" y="2042616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 PREDICTS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3156" y="2327771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&amp; XGBoost: demand forecasting and spike classification (15m/30m/60m).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2774156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03156" y="2915841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OR-TOOLS DECIDES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3156" y="3200995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Google OR-Tools MILP: constraint-aware, cost‑optimal dispatch (generators, BESS).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3647380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803156" y="3789065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LLM EXPLAINS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3156" y="407422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Bob + MCP: grounded engineering rationale — NOT a decision authority.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4520605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03156" y="4662289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APPROVES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3156" y="4947444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operator command center for final review and authorization.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1475" y="5407124"/>
            <a:ext cx="6296860" cy="91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Workflow: Telemetry → ML Forecast → Optimization → Safety Guardrail → AI Explanation → Human Approval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Inputs: telemetry, historical demand, weather, renewables, generator &amp; BESS state, grid limits, tariffs. Outputs: setpoints, BESS commands, import, curtailment, cost estimate, engineering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TECHNICAL ARCHITECTURE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58" y="-381758"/>
            <a:ext cx="10868745" cy="497413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02260"/>
            <a:ext cx="4058055" cy="16158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4143" y="2187674"/>
            <a:ext cx="260846" cy="3260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1579954" y="1738485"/>
            <a:ext cx="2987500" cy="27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Tier 1 — Operator Experience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579954" y="2167805"/>
            <a:ext cx="2987500" cy="79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18 · Vite · TailwindCSS · Recharts — Operator Command Center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24575"/>
            <a:ext cx="4058055" cy="16225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4143" y="3964561"/>
            <a:ext cx="260846" cy="3260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1579954" y="3241527"/>
            <a:ext cx="2987500" cy="61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Tier 2 — Gateway &amp; Orchestration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579954" y="3964561"/>
            <a:ext cx="2987500" cy="778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Node.js · Express · MCP Server · JSON‑RPC · DispatchGuardrail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032" y="4868714"/>
            <a:ext cx="4058055" cy="1350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4143" y="5608813"/>
            <a:ext cx="260846" cy="3260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579954" y="5096451"/>
            <a:ext cx="2987500" cy="46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Tier 3 — Intelligence Services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506897" y="5494352"/>
            <a:ext cx="2987500" cy="530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FastAPI (ports 8001–8003): renewable, demand, optimization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4234" y="4800867"/>
            <a:ext cx="4058055" cy="16158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76937" y="5152495"/>
            <a:ext cx="260846" cy="326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6515848" y="4902184"/>
            <a:ext cx="2987500" cy="27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Tier 4 — Data &amp; Optimization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515848" y="5422792"/>
            <a:ext cx="2987500" cy="79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OpenSTEF pipeline → 37 zero‑leakage features → LightGBM / XGBoost → OR-Tools MILP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05034" y="8575329"/>
            <a:ext cx="10781627" cy="530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Technical specifics: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LightGBM: 15/30/60‑minute forecasting. XGBoost: spike classification (Normal/Moderate/Severe). OR-Tools: generator + BESS + grid dispatch MILP. MCP: 8 grid-management tools.</a:t>
            </a:r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3B0D80-E1A8-33C0-9C44-31C092F35E57}"/>
              </a:ext>
            </a:extLst>
          </p:cNvPr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00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LIVE INCIDENT — FROM SPIKE TO SAFE DISPATCH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705" y="2934625"/>
            <a:ext cx="10868745" cy="48909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26" y="1446907"/>
            <a:ext cx="1116408" cy="13954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5026" y="3052951"/>
            <a:ext cx="2537476" cy="27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 1 — DETECT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05026" y="3425720"/>
            <a:ext cx="2537476" cy="82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14:15 UTC — EV surge +18.4 MW, XGBoost flags SEVERE spike.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082" y="1446907"/>
            <a:ext cx="1116408" cy="13954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53082" y="3052951"/>
            <a:ext cx="2537476" cy="27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 2 — PREDICT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3453082" y="3425720"/>
            <a:ext cx="2537476" cy="54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projects 60‑minute trajectory; peak ≈ 71.5 MW.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137" y="1446907"/>
            <a:ext cx="1116408" cy="13954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1137" y="3052951"/>
            <a:ext cx="2537476" cy="27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 3 — OPTIMIZE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201137" y="3425720"/>
            <a:ext cx="2537476" cy="82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OR-Tools MILP → BESS +12 MW, Peaker +6.4 MW. Optimization latency &lt;100 ms (measured).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9193" y="1446907"/>
            <a:ext cx="1116408" cy="13954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49193" y="3052951"/>
            <a:ext cx="2537476" cy="543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 4 — EXPLAIN &amp; APPROVE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8949193" y="3697441"/>
            <a:ext cx="2537476" cy="109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Bob + MCP provides rationale; DispatchGuardrail validates constraints; operator clicks APPROVE DISPATCH.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-218705" y="1080890"/>
            <a:ext cx="10781643" cy="27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screenshots: dashboard, spike alert, optimization recommendation, copilot explanation, approval state.</a:t>
            </a:r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251A0-70E3-86E9-757E-35DCD6D6F3FB}"/>
              </a:ext>
            </a:extLst>
          </p:cNvPr>
          <p:cNvSpPr/>
          <p:nvPr/>
        </p:nvSpPr>
        <p:spPr>
          <a:xfrm>
            <a:off x="0" y="6586278"/>
            <a:ext cx="12192000" cy="271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648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IBM TECHNOLOGY — GROUNDED AI FOR GRID OPERATIONS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2927"/>
            <a:ext cx="5275924" cy="29897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0646" y="1282105"/>
            <a:ext cx="324834" cy="3248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646" y="1718568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IBM Bob / BobShell CLI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260646" y="2010866"/>
            <a:ext cx="5275924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Agentic developer assistance, orchestration, test execution, architecture verification, automated workflows. Enables the AI copilot to operate reliably in engineering contexts.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0646" y="2540298"/>
            <a:ext cx="324834" cy="3248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0646" y="2976761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CONTEXT PROTOCOL (MCP)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260646" y="3269059"/>
            <a:ext cx="5275924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MCP server exposes 8 standardized tools as JSON‑RPC endpoints for grounded, verifiable interactions with microservices (get_grid_status, optimize_dispatch, explain_dispatch, etc.).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646" y="3973909"/>
            <a:ext cx="324834" cy="3248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646" y="4410373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GROUNDING PATTERN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260646" y="4702671"/>
            <a:ext cx="5275924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IBM Bob → MCP JSON‑RPC → Grid Tools → Microservices → Telemetry/ML/Optimization → Grounded result for operator explanation. LLMs do not control dispatch.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661475" y="5530453"/>
            <a:ext cx="10868745" cy="409972"/>
          </a:xfrm>
          <a:prstGeom prst="roundRect">
            <a:avLst>
              <a:gd name="adj" fmla="val 4755"/>
            </a:avLst>
          </a:prstGeom>
          <a:solidFill>
            <a:srgbClr val="CCD7FF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349" y="5659140"/>
            <a:ext cx="162417" cy="12987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3640" y="5652195"/>
            <a:ext cx="1092629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message: IBM Bob connects the AI copilot to real grid intelligence through standardized MCP tools, while deterministic optimization—not the LLM—controls dispatch logic.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1928EF-06D2-BDD9-6452-592B277FFE8F}"/>
              </a:ext>
            </a:extLst>
          </p:cNvPr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EMPIRICAL RESULTS &amp; OPERATIONAL IMPACT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0763041" cy="478234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755929" y="1003995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Forecast Accuracy (15‑min MAE)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5929" y="117990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0.0497 MW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15-minute demand MAE — </a:t>
            </a:r>
            <a:r>
              <a:rPr lang="en-US" sz="1400" dirty="0">
                <a:solidFill>
                  <a:srgbClr val="04318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60.7% improvement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 seasonal‑naive baseline (simulated/validated).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25006" y="2015094"/>
            <a:ext cx="5410759" cy="680475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119461" y="2022070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Spike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4378" y="2294433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99.01%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XGBoost classification accuracy —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100%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recall on severe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spikes (test set).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1435000"/>
            <a:ext cx="10679837" cy="587069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55929" y="1449997"/>
            <a:ext cx="5221851" cy="227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Renewable Utilization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5929" y="1705372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85% reduction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simulated renewable curtailment on 100 MW feeder benchmark (simulation).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13757" y="2752581"/>
            <a:ext cx="5410759" cy="735132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19461" y="2761650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&amp; Latency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4378" y="3072396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88 / 88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automated tests passing (44 Python, 44 Node.js). OR-Tools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optimization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&lt;100 ms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benchmark runs.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81" y="2399506"/>
            <a:ext cx="5512062" cy="312350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1475" y="5856848"/>
            <a:ext cx="8529178" cy="359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Economic estimate (simulated benchmark): ≈ €3,400/day savings per 100 MW feeder (estimated). Labelled as estimated.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779" y="3805339"/>
            <a:ext cx="6067571" cy="49718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41907" y="3813930"/>
            <a:ext cx="402024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— Environmental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167261" y="4025002"/>
            <a:ext cx="402024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Increased renewable utilization; fewer curtailments.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278" y="4429392"/>
            <a:ext cx="6139073" cy="6400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41907" y="4489710"/>
            <a:ext cx="402024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— Economic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67262" y="4774133"/>
            <a:ext cx="402024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Lower peaker and balancing costs (estimated savings reported above).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278" y="5248032"/>
            <a:ext cx="6204857" cy="5876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13915" y="5324783"/>
            <a:ext cx="402024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— Operational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119461" y="5568312"/>
            <a:ext cx="402024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Faster, constraint-aware decision support; reduced operator stress.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61475" y="6091039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CCD7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29" y="6161881"/>
            <a:ext cx="118067" cy="94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450" y="616188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Simulation and economic figures are explicitly labeled simulated/estimated and not claimed as deployed utility outcomes.</a:t>
            </a:r>
            <a:endParaRPr lang="en-US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6EE014-E2D0-4B35-5107-D3E2067DDE77}"/>
              </a:ext>
            </a:extLst>
          </p:cNvPr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E5AF61-3C50-2893-18CC-BB19AF2D22F2}"/>
              </a:ext>
            </a:extLst>
          </p:cNvPr>
          <p:cNvCxnSpPr/>
          <p:nvPr/>
        </p:nvCxnSpPr>
        <p:spPr>
          <a:xfrm>
            <a:off x="6013757" y="3694922"/>
            <a:ext cx="5882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RELENTLESS GLADIATORS — TEAM &amp; NEXT STEPS</a:t>
            </a:r>
            <a:endParaRPr lang="en-US" sz="14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18" y="1026121"/>
            <a:ext cx="587956" cy="734913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08463" y="1021259"/>
            <a:ext cx="202589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MAHAVIR VIRDA</a:t>
            </a:r>
            <a:endParaRPr lang="en-US" sz="1400" dirty="0"/>
          </a:p>
        </p:txBody>
      </p:sp>
      <p:sp>
        <p:nvSpPr>
          <p:cNvPr id="9" name="Text 2"/>
          <p:cNvSpPr/>
          <p:nvPr/>
        </p:nvSpPr>
        <p:spPr>
          <a:xfrm>
            <a:off x="1308462" y="1287165"/>
            <a:ext cx="202589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Architecture · Optimization Engine · Solver formulation</a:t>
            </a:r>
            <a:endParaRPr lang="en-US" sz="1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395" y="1083271"/>
            <a:ext cx="587956" cy="734913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4180875" y="1037133"/>
            <a:ext cx="202589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DEEP PATHAK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4180874" y="1351161"/>
            <a:ext cx="202589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ML Engineer · Demand intelligence · Zero‑leakage pipelines</a:t>
            </a:r>
            <a:endParaRPr lang="en-US" sz="14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290" y="1126578"/>
            <a:ext cx="587956" cy="734913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053287" y="1042540"/>
            <a:ext cx="202589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SAVAN PATEL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7053286" y="1380627"/>
            <a:ext cx="202589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Gateway · MCP Server · Telemetry aggregation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195" y="1083121"/>
            <a:ext cx="588055" cy="73501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713873" y="1034653"/>
            <a:ext cx="202589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TIRTH PATEL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9586085" y="1258937"/>
            <a:ext cx="202589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Frontend Lead · React Command Center · Operator UX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580018" y="2383233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CURRENT DELIVERY</a:t>
            </a:r>
            <a:endParaRPr lang="en-US" sz="1400" dirty="0"/>
          </a:p>
        </p:txBody>
      </p:sp>
      <p:sp>
        <p:nvSpPr>
          <p:cNvPr id="20" name="Text 10"/>
          <p:cNvSpPr/>
          <p:nvPr/>
        </p:nvSpPr>
        <p:spPr>
          <a:xfrm>
            <a:off x="557440" y="2706439"/>
            <a:ext cx="10868745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Trained ML models; 3 Python intelligence services; Node.js API gateway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8‑tool MCP server; Deterministic DispatchGuardrail; React operator command center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88 automated tests passing (44 Python, 44 Node.js)</a:t>
            </a:r>
            <a:endParaRPr lang="en-US" sz="1400" dirty="0"/>
          </a:p>
        </p:txBody>
      </p:sp>
      <p:sp>
        <p:nvSpPr>
          <p:cNvPr id="21" name="Text 11"/>
          <p:cNvSpPr/>
          <p:nvPr/>
        </p:nvSpPr>
        <p:spPr>
          <a:xfrm>
            <a:off x="557439" y="4035746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SCOPE (PLANNED)</a:t>
            </a:r>
            <a:endParaRPr lang="en-US" sz="1400" dirty="0"/>
          </a:p>
        </p:txBody>
      </p:sp>
      <p:sp>
        <p:nvSpPr>
          <p:cNvPr id="22" name="Text 12"/>
          <p:cNvSpPr/>
          <p:nvPr/>
        </p:nvSpPr>
        <p:spPr>
          <a:xfrm>
            <a:off x="580017" y="4421435"/>
            <a:ext cx="10868745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Day‑ahead EPEX spot market bidding (planned)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Non‑linear AC‑OPF (research / future)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Native SCADA / DNP3 integration (future integration)</a:t>
            </a:r>
            <a:endParaRPr lang="en-US" sz="1400" dirty="0"/>
          </a:p>
        </p:txBody>
      </p:sp>
      <p:sp>
        <p:nvSpPr>
          <p:cNvPr id="23" name="Shape 13"/>
          <p:cNvSpPr/>
          <p:nvPr/>
        </p:nvSpPr>
        <p:spPr>
          <a:xfrm>
            <a:off x="661475" y="6027539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CCD7FF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929" y="6098381"/>
            <a:ext cx="118067" cy="9445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68450" y="609838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Items listed under FUTURE SCOPE are planned and not yet implemented.</a:t>
            </a:r>
            <a:endParaRPr lang="en-US" sz="1400" dirty="0"/>
          </a:p>
        </p:txBody>
      </p:sp>
      <p:sp>
        <p:nvSpPr>
          <p:cNvPr id="26" name="Text 15"/>
          <p:cNvSpPr/>
          <p:nvPr/>
        </p:nvSpPr>
        <p:spPr>
          <a:xfrm>
            <a:off x="347157" y="649743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BD9CFE-21A0-956B-AD8B-954C95FC4C2C}"/>
              </a:ext>
            </a:extLst>
          </p:cNvPr>
          <p:cNvSpPr/>
          <p:nvPr/>
        </p:nvSpPr>
        <p:spPr>
          <a:xfrm>
            <a:off x="0" y="6596743"/>
            <a:ext cx="12192000" cy="261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966</Words>
  <Application>Microsoft Office PowerPoint</Application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Heebo</vt:lpstr>
      <vt:lpstr>Crimson Pro SemiBold</vt:lpstr>
      <vt:lpstr>Heebo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Deep Pathak</cp:lastModifiedBy>
  <cp:revision>2</cp:revision>
  <dcterms:created xsi:type="dcterms:W3CDTF">2026-09-15T17:39:54Z</dcterms:created>
  <dcterms:modified xsi:type="dcterms:W3CDTF">2026-09-15T17:59:12Z</dcterms:modified>
</cp:coreProperties>
</file>